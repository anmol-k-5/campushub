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3108960" cy="45720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NEXT-GEN CAMPUS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5156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CampusHub</a:t>
            </a:r>
          </a:p>
          <a:p>
            <a:pPr>
              <a:defRPr sz="2800">
                <a:solidFill>
                  <a:srgbClr val="C7D2FE"/>
                </a:solidFill>
              </a:defRPr>
            </a:pPr>
            <a:r>
              <a:t>Master University &amp; Student Operating Ecosystem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E2E8F0"/>
                </a:solidFill>
              </a:defRPr>
            </a:pPr>
            <a:r>
              <a:t>A modern full-stack web application delivering 150 institutional university features:</a:t>
            </a:r>
            <a:br/>
            <a:r>
              <a:t>from real-time timetables and admissions to digital ID cards, AI tutoring, and Supabase cloud sync.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0B981"/>
                </a:solidFill>
              </a:defRPr>
            </a:pPr>
            <a:r>
              <a:t>🌐 Live URL: anmol-k-5.github.io/campushub   •   ⚡ Python + SQLite + Supabase PostgreSQL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CHALLENGE &amp;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The Problem with Conventional Campus Portals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80" cy="4206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13716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F4444"/>
                </a:solidFill>
              </a:defRPr>
            </a:pPr>
            <a:r>
              <a:t>01</a:t>
            </a:r>
          </a:p>
          <a:p>
            <a:pPr>
              <a:defRPr sz="1800" b="1">
                <a:solidFill>
                  <a:srgbClr val="0F172A"/>
                </a:solidFill>
              </a:defRPr>
            </a:pPr>
            <a:r>
              <a:t>Fragmented Experience</a:t>
            </a:r>
          </a:p>
          <a:p>
            <a:br/>
            <a:pPr>
              <a:defRPr sz="1400">
                <a:solidFill>
                  <a:srgbClr val="64748B"/>
                </a:solidFill>
              </a:defRPr>
            </a:pPr>
            <a:r>
              <a:t>Students navigate 5-8 separate outdated portals for attendance, exam timetables, fee receipts, hostel passes, and library books.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383280" cy="4206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383280" cy="1371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103120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59E0B"/>
                </a:solidFill>
              </a:defRPr>
            </a:pPr>
            <a:r>
              <a:t>02</a:t>
            </a:r>
          </a:p>
          <a:p>
            <a:pPr>
              <a:defRPr sz="1800" b="1">
                <a:solidFill>
                  <a:srgbClr val="0F172A"/>
                </a:solidFill>
              </a:defRPr>
            </a:pPr>
            <a:r>
              <a:t>Zero Real-Time Synchronization</a:t>
            </a:r>
          </a:p>
          <a:p>
            <a:br/>
            <a:pPr>
              <a:defRPr sz="1400">
                <a:solidFill>
                  <a:srgbClr val="64748B"/>
                </a:solidFill>
              </a:defRPr>
            </a:pPr>
            <a:r>
              <a:t>Campus notices and timetables are distributed as static PDF files on noticeboards with no instant mobile or cloud access.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828800"/>
            <a:ext cx="3383280" cy="4206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46720" y="1828800"/>
            <a:ext cx="3383280" cy="13716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103120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A5E9"/>
                </a:solidFill>
              </a:defRPr>
            </a:pPr>
            <a:r>
              <a:t>03</a:t>
            </a:r>
          </a:p>
          <a:p>
            <a:pPr>
              <a:defRPr sz="1800" b="1">
                <a:solidFill>
                  <a:srgbClr val="0F172A"/>
                </a:solidFill>
              </a:defRPr>
            </a:pPr>
            <a:r>
              <a:t>Disconnected Stakeholders</a:t>
            </a:r>
          </a:p>
          <a:p>
            <a:br/>
            <a:pPr>
              <a:defRPr sz="1400">
                <a:solidFill>
                  <a:srgbClr val="64748B"/>
                </a:solidFill>
              </a:defRPr>
            </a:pPr>
            <a:r>
              <a:t>Faculty, students, parents, and administrative deans lack a single source of truth for academic standing and campus operations.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PRODUCT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The Solution: A Unified Digital Campus Operating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1920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4F46E5"/>
                </a:solidFill>
              </a:defRPr>
            </a:pPr>
            <a:r>
              <a:t>🎓 150 Standard Features</a:t>
            </a:r>
          </a:p>
          <a:p>
            <a:br/>
            <a:pPr>
              <a:defRPr sz="1300">
                <a:solidFill>
                  <a:srgbClr val="0F172A"/>
                </a:solidFill>
              </a:defRPr>
            </a:pPr>
            <a:r>
              <a:t>Unified under 24 specialized modular view controllers covering 100% of campus academic and residential life.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828800"/>
            <a:ext cx="5120640" cy="1920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4F46E5"/>
                </a:solidFill>
              </a:defRPr>
            </a:pPr>
            <a:r>
              <a:t>🛡️ Triple-Tier Storage</a:t>
            </a:r>
          </a:p>
          <a:p>
            <a:br/>
            <a:pPr>
              <a:defRPr sz="1300">
                <a:solidFill>
                  <a:srgbClr val="0F172A"/>
                </a:solidFill>
              </a:defRPr>
            </a:pPr>
            <a:r>
              <a:t>Guarantees zero downtime: Supabase Cloud PostgreSQL, Local Python REST Server, and Offline Web Crypto fallback.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120640" cy="1920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20624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4F46E5"/>
                </a:solidFill>
              </a:defRPr>
            </a:pPr>
            <a:r>
              <a:t>⚡ 100% Client Responsive</a:t>
            </a:r>
          </a:p>
          <a:p>
            <a:br/>
            <a:pPr>
              <a:defRPr sz="1300">
                <a:solidFill>
                  <a:srgbClr val="0F172A"/>
                </a:solidFill>
              </a:defRPr>
            </a:pPr>
            <a:r>
              <a:t>Sub-second page rendering built with zero-heavy-framework overhead and native modern JavaScript ES6 modules.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4023360"/>
            <a:ext cx="5120640" cy="1920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20624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4F46E5"/>
                </a:solidFill>
              </a:defRPr>
            </a:pPr>
            <a:r>
              <a:t>🔒 Enterprise Security</a:t>
            </a:r>
          </a:p>
          <a:p>
            <a:br/>
            <a:pPr>
              <a:defRPr sz="1300">
                <a:solidFill>
                  <a:srgbClr val="0F172A"/>
                </a:solidFill>
              </a:defRPr>
            </a:pPr>
            <a:r>
              <a:t>PBKDF2-SHA256 password hashing with 100k rounds, cryptographic salts, and PostgreSQL Row Level Security (RLS).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Triple-Tier Resilient Storage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8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6400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TIER 1: CLOUD GLOBAL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51760"/>
            <a:ext cx="2834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Supabase PostgreSQL</a:t>
            </a:r>
          </a:p>
          <a:p>
            <a:pPr>
              <a:defRPr sz="1200" b="1">
                <a:solidFill>
                  <a:srgbClr val="10B981"/>
                </a:solidFill>
              </a:defRPr>
            </a:pPr>
            <a:r>
              <a:t>Worldwide Multi-Device Sync</a:t>
            </a:r>
          </a:p>
          <a:p>
            <a:br/>
            <a:pPr>
              <a:defRPr sz="1300">
                <a:solidFill>
                  <a:srgbClr val="64748B"/>
                </a:solidFill>
              </a:defRPr>
            </a:pPr>
            <a:r>
              <a:t>Direct HTTPS connection from browser to Supabase Cloud PostgreSQL. GoTrue JWT Auth with Row Level Security (RLS).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38328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383280" cy="64008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92024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TIER 2: LOCAL SERVER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651760"/>
            <a:ext cx="2834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Python 3 REST Server</a:t>
            </a:r>
          </a:p>
          <a:p>
            <a:pPr>
              <a:defRPr sz="1200" b="1">
                <a:solidFill>
                  <a:srgbClr val="4F46E5"/>
                </a:solidFill>
              </a:defRPr>
            </a:pPr>
            <a:r>
              <a:t>Local Production &amp; Offline LAN</a:t>
            </a:r>
          </a:p>
          <a:p>
            <a:br/>
            <a:pPr>
              <a:defRPr sz="1300">
                <a:solidFill>
                  <a:srgbClr val="64748B"/>
                </a:solidFill>
              </a:defRPr>
            </a:pPr>
            <a:r>
              <a:t>Custom native HTTP REST API backend with SQLite (campus.db). PBKDF2 password hashing &amp; 32-byte session tokens.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28800"/>
            <a:ext cx="338328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20" y="1828800"/>
            <a:ext cx="3383280" cy="64008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192024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TIER 3: BROWSER FALLBACK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651760"/>
            <a:ext cx="2834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Web Crypto API</a:t>
            </a:r>
          </a:p>
          <a:p>
            <a:pPr>
              <a:defRPr sz="1200" b="1">
                <a:solidFill>
                  <a:srgbClr val="0F766E"/>
                </a:solidFill>
              </a:defRPr>
            </a:pPr>
            <a:r>
              <a:t>Instant Demo &amp; 100% Offline</a:t>
            </a:r>
          </a:p>
          <a:p>
            <a:br/>
            <a:pPr>
              <a:defRPr sz="1300">
                <a:solidFill>
                  <a:srgbClr val="64748B"/>
                </a:solidFill>
              </a:defRPr>
            </a:pPr>
            <a:r>
              <a:t>Standalone execution with zero server dependencies. Client-side SHA-256 password verification and state persistence.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FUNCTIONAL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150 Features Across 6 Specialized Clusters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8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01168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F46E5"/>
                </a:solidFill>
              </a:defRPr>
            </a:pPr>
            <a:r>
              <a:t>📚 Academic Suite</a:t>
            </a:r>
          </a:p>
          <a:p>
            <a:br/>
            <a:pPr>
              <a:defRPr sz="1200">
                <a:solidFill>
                  <a:srgbClr val="0F172A"/>
                </a:solidFill>
              </a:defRPr>
            </a:pPr>
            <a:r>
              <a:t>Weekly interactive timetable, subject-wise attendance predictor, assignment grading, and study schedule checklists.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38328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201168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F46E5"/>
                </a:solidFill>
              </a:defRPr>
            </a:pPr>
            <a:r>
              <a:t>🎫 Identity &amp; Verification</a:t>
            </a:r>
          </a:p>
          <a:p>
            <a:br/>
            <a:pPr>
              <a:defRPr sz="1200">
                <a:solidFill>
                  <a:srgbClr val="0F172A"/>
                </a:solidFill>
              </a:defRPr>
            </a:pPr>
            <a:r>
              <a:t>Printable PVC-ready Digital Student ID Card with dynamic real-time QR security verification and Code-128 barcodes.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828800"/>
            <a:ext cx="338328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201168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F46E5"/>
                </a:solidFill>
              </a:defRPr>
            </a:pPr>
            <a:r>
              <a:t>📖 Smart Library &amp; AI Tutor</a:t>
            </a:r>
          </a:p>
          <a:p>
            <a:br/>
            <a:pPr>
              <a:defRPr sz="1200">
                <a:solidFill>
                  <a:srgbClr val="0F172A"/>
                </a:solidFill>
              </a:defRPr>
            </a:pPr>
            <a:r>
              <a:t>85,000-volume searchable catalog with instant hold reservation, previous year question papers (PYQs), and AI Study Tutor.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338328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29768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F46E5"/>
                </a:solidFill>
              </a:defRPr>
            </a:pPr>
            <a:r>
              <a:t>🏢 Campus Life &amp; Hostels</a:t>
            </a:r>
          </a:p>
          <a:p>
            <a:br/>
            <a:pPr>
              <a:defRPr sz="1200">
                <a:solidFill>
                  <a:srgbClr val="0F172A"/>
                </a:solidFill>
              </a:defRPr>
            </a:pPr>
            <a:r>
              <a:t>Live cafeteria mess menus with nutrition counters, dorm block room allocations, facility bookings, and bus route tracking.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4114800"/>
            <a:ext cx="338328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429768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F46E5"/>
                </a:solidFill>
              </a:defRPr>
            </a:pPr>
            <a:r>
              <a:t>🤝 Welfare &amp; Helpdesk</a:t>
            </a:r>
          </a:p>
          <a:p>
            <a:br/>
            <a:pPr>
              <a:defRPr sz="1200">
                <a:solidFill>
                  <a:srgbClr val="0F172A"/>
                </a:solidFill>
              </a:defRPr>
            </a:pPr>
            <a:r>
              <a:t>Anonymous grievance ticketing cell, verifiable out-station hostel leave gate passes with QR, and 24/7 medical desk.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4114800"/>
            <a:ext cx="338328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429768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F46E5"/>
                </a:solidFill>
              </a:defRPr>
            </a:pPr>
            <a:r>
              <a:t>💼 Career &amp; Executive Hub</a:t>
            </a:r>
          </a:p>
          <a:p>
            <a:br/>
            <a:pPr>
              <a:defRPr sz="1200">
                <a:solidFill>
                  <a:srgbClr val="0F172A"/>
                </a:solidFill>
              </a:defRPr>
            </a:pPr>
            <a:r>
              <a:t>Corporate placement drives with AI skill match engine, institutional KPI matrix, dean analytics, and audit logs.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SECURITY &amp; ACCESS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Four Multi-User Roles &amp; Dynamic Persona Views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51460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514600" cy="1371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2148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F46E5"/>
                </a:solidFill>
              </a:defRPr>
            </a:pPr>
            <a:r>
              <a:t>Student Persona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Alex Rivera (Roll: CS-2024-8841)</a:t>
            </a:r>
          </a:p>
          <a:p>
            <a:br/>
            <a:pPr>
              <a:defRPr sz="1200">
                <a:solidFill>
                  <a:srgbClr val="64748B"/>
                </a:solidFill>
              </a:defRPr>
            </a:pPr>
            <a:r>
              <a:t>Access to class timetable, personal attendance forecast, digital ID, study notes, and assignments.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828800"/>
            <a:ext cx="251460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74720" y="1828800"/>
            <a:ext cx="2514600" cy="13716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103120"/>
            <a:ext cx="2148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766E"/>
                </a:solidFill>
              </a:defRPr>
            </a:pPr>
            <a:r>
              <a:t>Faculty Persona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Dr. Sarah Vance (Computer Science)</a:t>
            </a:r>
          </a:p>
          <a:p>
            <a:br/>
            <a:pPr>
              <a:defRPr sz="1200">
                <a:solidFill>
                  <a:srgbClr val="64748B"/>
                </a:solidFill>
              </a:defRPr>
            </a:pPr>
            <a:r>
              <a:t>Cabin availability status toggles, office-hour consultation appointment management, and research showcase.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251460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2514600" cy="13716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103120"/>
            <a:ext cx="2148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C2626"/>
                </a:solidFill>
              </a:defRPr>
            </a:pPr>
            <a:r>
              <a:t>Administrator / Dean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Dean of Student Affairs</a:t>
            </a:r>
          </a:p>
          <a:p>
            <a:br/>
            <a:pPr>
              <a:defRPr sz="1200">
                <a:solidFill>
                  <a:srgbClr val="64748B"/>
                </a:solidFill>
              </a:defRPr>
            </a:pPr>
            <a:r>
              <a:t>Institutional KPIs, student-faculty ratios, placement rate tracking, department metrics, and audit logs.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828800"/>
            <a:ext cx="251460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961120" y="1828800"/>
            <a:ext cx="2514600" cy="13716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2103120"/>
            <a:ext cx="2148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97706"/>
                </a:solidFill>
              </a:defRPr>
            </a:pPr>
            <a:r>
              <a:t>Applicant / Guest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Prospective Candidate</a:t>
            </a:r>
          </a:p>
          <a:p>
            <a:br/>
            <a:pPr>
              <a:defRPr sz="1200">
                <a:solidFill>
                  <a:srgbClr val="64748B"/>
                </a:solidFill>
              </a:defRPr>
            </a:pPr>
            <a:r>
              <a:t>Online admissions application, live status tracker (APP-2026), eligibility evaluation, and fee structure estimator.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TOOLS &amp; LIBRARIES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Comprehensive 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80" cy="4206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73152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Frontend Technologies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28346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>
                <a:solidFill>
                  <a:srgbClr val="0F172A"/>
                </a:solidFill>
              </a:defRPr>
            </a:pPr>
            <a:r>
              <a:t>✔  HTML5 Semantic Architecture</a:t>
            </a:r>
            <a:br/>
          </a:p>
          <a:p>
            <a:pPr>
              <a:defRPr sz="1300">
                <a:solidFill>
                  <a:srgbClr val="0F172A"/>
                </a:solidFill>
              </a:defRPr>
            </a:pPr>
            <a:r>
              <a:t>✔  Tailwind CSS (Utility Styling &amp; Dark Mode)</a:t>
            </a:r>
            <a:br/>
          </a:p>
          <a:p>
            <a:pPr>
              <a:defRPr sz="1300">
                <a:solidFill>
                  <a:srgbClr val="0F172A"/>
                </a:solidFill>
              </a:defRPr>
            </a:pPr>
            <a:r>
              <a:t>✔  Vanilla ES6+ JavaScript Modules</a:t>
            </a:r>
            <a:br/>
          </a:p>
          <a:p>
            <a:pPr>
              <a:defRPr sz="1300">
                <a:solidFill>
                  <a:srgbClr val="0F172A"/>
                </a:solidFill>
              </a:defRPr>
            </a:pPr>
            <a:r>
              <a:t>✔  Lucide Icons &amp; Canvas Confetti</a:t>
            </a:r>
            <a:br/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383280" cy="4206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383280" cy="73152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96596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Backend &amp; Databases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743200"/>
            <a:ext cx="28346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>
                <a:solidFill>
                  <a:srgbClr val="0F172A"/>
                </a:solidFill>
              </a:defRPr>
            </a:pPr>
            <a:r>
              <a:t>✔  Python 3 Native HTTP Server (server.py)</a:t>
            </a:r>
            <a:br/>
          </a:p>
          <a:p>
            <a:pPr>
              <a:defRPr sz="1300">
                <a:solidFill>
                  <a:srgbClr val="0F172A"/>
                </a:solidFill>
              </a:defRPr>
            </a:pPr>
            <a:r>
              <a:t>✔  SQLite Relational Database (campus.db)</a:t>
            </a:r>
            <a:br/>
          </a:p>
          <a:p>
            <a:pPr>
              <a:defRPr sz="1300">
                <a:solidFill>
                  <a:srgbClr val="0F172A"/>
                </a:solidFill>
              </a:defRPr>
            </a:pPr>
            <a:r>
              <a:t>✔  Supabase Cloud PostgreSQL &amp; GoTrue Auth</a:t>
            </a:r>
            <a:br/>
          </a:p>
          <a:p>
            <a:pPr>
              <a:defRPr sz="1300">
                <a:solidFill>
                  <a:srgbClr val="0F172A"/>
                </a:solidFill>
              </a:defRPr>
            </a:pPr>
            <a:r>
              <a:t>✔  Row Level Security (RLS) Policies</a:t>
            </a:r>
            <a:br/>
          </a:p>
        </p:txBody>
      </p:sp>
      <p:sp>
        <p:nvSpPr>
          <p:cNvPr id="12" name="Rounded Rectangle 11"/>
          <p:cNvSpPr/>
          <p:nvPr/>
        </p:nvSpPr>
        <p:spPr>
          <a:xfrm>
            <a:off x="8046720" y="1828800"/>
            <a:ext cx="3383280" cy="4206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20" y="1828800"/>
            <a:ext cx="338328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196596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DevOps &amp; Deployment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743200"/>
            <a:ext cx="28346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>
                <a:solidFill>
                  <a:srgbClr val="0F172A"/>
                </a:solidFill>
              </a:defRPr>
            </a:pPr>
            <a:r>
              <a:t>✔  GitHub Pages (24/7 Global Hosting)</a:t>
            </a:r>
            <a:br/>
          </a:p>
          <a:p>
            <a:pPr>
              <a:defRPr sz="1300">
                <a:solidFill>
                  <a:srgbClr val="0F172A"/>
                </a:solidFill>
              </a:defRPr>
            </a:pPr>
            <a:r>
              <a:t>✔  Git Distributed Version Control</a:t>
            </a:r>
            <a:br/>
          </a:p>
          <a:p>
            <a:pPr>
              <a:defRPr sz="1300">
                <a:solidFill>
                  <a:srgbClr val="0F172A"/>
                </a:solidFill>
              </a:defRPr>
            </a:pPr>
            <a:r>
              <a:t>✔  Offline Bundler (CampusHub_App.html)</a:t>
            </a:r>
            <a:br/>
          </a:p>
          <a:p>
            <a:pPr>
              <a:defRPr sz="1300">
                <a:solidFill>
                  <a:srgbClr val="0F172A"/>
                </a:solidFill>
              </a:defRPr>
            </a:pPr>
            <a:r>
              <a:t>✔  Cross-Device Browser Responsiveness</a:t>
            </a:r>
            <a:b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PROTECTION MECHANISMS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Enterprise Security &amp; Privacy Standards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F46E5"/>
                </a:solidFill>
              </a:defRPr>
            </a:pPr>
            <a:r>
              <a:t>🔒 Salted PBKDF2 Hashing</a:t>
            </a:r>
          </a:p>
          <a:p>
            <a:br/>
            <a:pPr>
              <a:defRPr sz="1300">
                <a:solidFill>
                  <a:srgbClr val="0F172A"/>
                </a:solidFill>
              </a:defRPr>
            </a:pPr>
            <a:r>
              <a:t>Zero plain text passwords. All passwords hashed using PBKDF2-HMAC-SHA256 with 100,000 rounds and unique 16-byte cryptographic random salts per user.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828800"/>
            <a:ext cx="512064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F46E5"/>
                </a:solidFill>
              </a:defRPr>
            </a:pPr>
            <a:r>
              <a:t>🛡️ Row Level Security (RLS)</a:t>
            </a:r>
          </a:p>
          <a:p>
            <a:br/>
            <a:pPr>
              <a:defRPr sz="1300">
                <a:solidFill>
                  <a:srgbClr val="0F172A"/>
                </a:solidFill>
              </a:defRPr>
            </a:pPr>
            <a:r>
              <a:t>PostgreSQL database enforcement guarantees that students can strictly view and modify only their own personal records, preventing cross-tenant leakage.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12064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20624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F46E5"/>
                </a:solidFill>
              </a:defRPr>
            </a:pPr>
            <a:r>
              <a:t>🔑 Cryptographic Session Tokens</a:t>
            </a:r>
          </a:p>
          <a:p>
            <a:br/>
            <a:pPr>
              <a:defRPr sz="1300">
                <a:solidFill>
                  <a:srgbClr val="0F172A"/>
                </a:solidFill>
              </a:defRPr>
            </a:pPr>
            <a:r>
              <a:t>Secure 32-byte URL-safe session bearer tokens with automatic session expiration checks on all REST endpoints.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4023360"/>
            <a:ext cx="512064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20624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F46E5"/>
                </a:solidFill>
              </a:defRPr>
            </a:pPr>
            <a:r>
              <a:t>📴 Client-Side Web Crypto</a:t>
            </a:r>
          </a:p>
          <a:p>
            <a:br/>
            <a:pPr>
              <a:defRPr sz="1300">
                <a:solidFill>
                  <a:srgbClr val="0F172A"/>
                </a:solidFill>
              </a:defRPr>
            </a:pPr>
            <a:r>
              <a:t>For offline or static hosting on GitHub Pages, passwords are verified using browser-native subtle crypto APIs with isolated local namespaces.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Key Technical Innovations in CampusHub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1920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37160" cy="192024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01168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F46E5"/>
                </a:solidFill>
              </a:defRPr>
            </a:pPr>
            <a:r>
              <a:t>🤖 24/7 AI Campus Chatbot</a:t>
            </a:r>
          </a:p>
          <a:p>
            <a:br/>
            <a:pPr>
              <a:defRPr sz="1300">
                <a:solidFill>
                  <a:srgbClr val="0F172A"/>
                </a:solidFill>
              </a:defRPr>
            </a:pPr>
            <a:r>
              <a:t>Floating intelligent campus assistant that understands cafeteria menus, hostel leaves, exam regulations, and placement drives.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828800"/>
            <a:ext cx="5120640" cy="1920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26480" y="1828800"/>
            <a:ext cx="137160" cy="192024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01168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766E"/>
                </a:solidFill>
              </a:defRPr>
            </a:pPr>
            <a:r>
              <a:t>📇 Printable Digital Student ID</a:t>
            </a:r>
          </a:p>
          <a:p>
            <a:br/>
            <a:pPr>
              <a:defRPr sz="1300">
                <a:solidFill>
                  <a:srgbClr val="0F172A"/>
                </a:solidFill>
              </a:defRPr>
            </a:pPr>
            <a:r>
              <a:t>Dynamic QR code verification and Code-128 barcode calibrated for direct PVC card printing and gate scanning.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5120640" cy="1920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137160" cy="19202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20624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📊 Predictive Attendance Calculator</a:t>
            </a:r>
          </a:p>
          <a:p>
            <a:br/>
            <a:pPr>
              <a:defRPr sz="1300">
                <a:solidFill>
                  <a:srgbClr val="0F172A"/>
                </a:solidFill>
              </a:defRPr>
            </a:pPr>
            <a:r>
              <a:t>Smart algorithm projecting required lectures to reach the statutory 75% minimum threshold before exams.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4023360"/>
            <a:ext cx="5120640" cy="1920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26480" y="4023360"/>
            <a:ext cx="137160" cy="1920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420624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📦 1-File Standalone Portable App</a:t>
            </a:r>
          </a:p>
          <a:p>
            <a:br/>
            <a:pPr>
              <a:defRPr sz="1300">
                <a:solidFill>
                  <a:srgbClr val="0F172A"/>
                </a:solidFill>
              </a:defRPr>
            </a:pPr>
            <a:r>
              <a:t>Single compiled HTML file (CampusHub_App.html) containing the full app, CSS, and JS bundle—runs offline anywhere without installation.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PRESENTATION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Live Demonstration Walkthrough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65960"/>
            <a:ext cx="2926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F46E5"/>
                </a:solidFill>
              </a:defRPr>
            </a:pPr>
            <a:r>
              <a:t>1. Public College Portal</a:t>
            </a:r>
          </a:p>
          <a:p>
            <a:pPr>
              <a:defRPr sz="1100" b="1">
                <a:solidFill>
                  <a:srgbClr val="0F766E"/>
                </a:solidFill>
              </a:defRPr>
            </a:pPr>
            <a:r>
              <a:t>Route: #about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Showcase hero banner, accreditation, college statistics, and leadership vision.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3832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965960"/>
            <a:ext cx="2926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F46E5"/>
                </a:solidFill>
              </a:defRPr>
            </a:pPr>
            <a:r>
              <a:t>2. Real-Time Admissions</a:t>
            </a:r>
          </a:p>
          <a:p>
            <a:pPr>
              <a:defRPr sz="1100" b="1">
                <a:solidFill>
                  <a:srgbClr val="0F766E"/>
                </a:solidFill>
              </a:defRPr>
            </a:pPr>
            <a:r>
              <a:t>Route: #admissions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Track live application status with sample ID APP-2026-8812 and fee estimator.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828800"/>
            <a:ext cx="33832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965960"/>
            <a:ext cx="2926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F46E5"/>
                </a:solidFill>
              </a:defRPr>
            </a:pPr>
            <a:r>
              <a:t>3. One-Click Persona Auth</a:t>
            </a:r>
          </a:p>
          <a:p>
            <a:pPr>
              <a:defRPr sz="1100" b="1">
                <a:solidFill>
                  <a:srgbClr val="0F766E"/>
                </a:solidFill>
              </a:defRPr>
            </a:pPr>
            <a:r>
              <a:t>Route: #login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Sign in as Student Alex Rivera, Faculty Dr. Vance, or Dean Administrator.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33832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251960"/>
            <a:ext cx="2926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F46E5"/>
                </a:solidFill>
              </a:defRPr>
            </a:pPr>
            <a:r>
              <a:t>4. Timetable &amp; Attendance</a:t>
            </a:r>
          </a:p>
          <a:p>
            <a:pPr>
              <a:defRPr sz="1100" b="1">
                <a:solidFill>
                  <a:srgbClr val="0F766E"/>
                </a:solidFill>
              </a:defRPr>
            </a:pPr>
            <a:r>
              <a:t>Route: #timetable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Demonstrate interactive schedule, subject attendance alerts, and assignments.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4114800"/>
            <a:ext cx="33832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4251960"/>
            <a:ext cx="2926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F46E5"/>
                </a:solidFill>
              </a:defRPr>
            </a:pPr>
            <a:r>
              <a:t>5. Digital ID Card</a:t>
            </a:r>
          </a:p>
          <a:p>
            <a:pPr>
              <a:defRPr sz="1100" b="1">
                <a:solidFill>
                  <a:srgbClr val="0F766E"/>
                </a:solidFill>
              </a:defRPr>
            </a:pPr>
            <a:r>
              <a:t>Route: #digitalid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Show dynamic QR generation, Code-128 barcode, and PVC card printing layout.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4114800"/>
            <a:ext cx="33832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4251960"/>
            <a:ext cx="2926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F46E5"/>
                </a:solidFill>
              </a:defRPr>
            </a:pPr>
            <a:r>
              <a:t>6. AI Campus Chatbot</a:t>
            </a:r>
          </a:p>
          <a:p>
            <a:pPr>
              <a:defRPr sz="1100" b="1">
                <a:solidFill>
                  <a:srgbClr val="0F766E"/>
                </a:solidFill>
              </a:defRPr>
            </a:pPr>
            <a:r>
              <a:t>Route: Floating Widget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Query cafeteria menu, gate pass procedures, and placement drives in real-time.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PRODUCTION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Live Deployment &amp; Verification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80" cy="4206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7315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GitHub Pages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28346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🌐 Permanent 24/7 Cloud Host</a:t>
            </a:r>
          </a:p>
          <a:p>
            <a:br/>
            <a:pPr>
              <a:defRPr sz="1200" b="1">
                <a:solidFill>
                  <a:srgbClr val="10B981"/>
                </a:solidFill>
              </a:defRPr>
            </a:pPr>
            <a:r>
              <a:t>https://anmol-k-5.github.io/campushub/</a:t>
            </a:r>
          </a:p>
          <a:p>
            <a:br/>
            <a:pPr>
              <a:defRPr sz="1300">
                <a:solidFill>
                  <a:srgbClr val="64748B"/>
                </a:solidFill>
              </a:defRPr>
            </a:pPr>
            <a:r>
              <a:t>Always online across all phones, tablets, and computers worldwide.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383280" cy="4206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383280" cy="73152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96596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Python 3 + SQLite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743200"/>
            <a:ext cx="28346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💻 Full-Stack Local Server</a:t>
            </a:r>
          </a:p>
          <a:p>
            <a:br/>
            <a:pPr>
              <a:defRPr sz="1200" b="1">
                <a:solidFill>
                  <a:srgbClr val="4F46E5"/>
                </a:solidFill>
              </a:defRPr>
            </a:pPr>
            <a:r>
              <a:t>http://localhost:8000</a:t>
            </a:r>
          </a:p>
          <a:p>
            <a:br/>
            <a:pPr>
              <a:defRPr sz="1300">
                <a:solidFill>
                  <a:srgbClr val="64748B"/>
                </a:solidFill>
              </a:defRPr>
            </a:pPr>
            <a:r>
              <a:t>Instant local execution via 'python server.py' with zero third-party packages.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28800"/>
            <a:ext cx="3383280" cy="4206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20" y="1828800"/>
            <a:ext cx="338328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196596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CampusHub_App.html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743200"/>
            <a:ext cx="28346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📦 100% Offline Standalone</a:t>
            </a:r>
          </a:p>
          <a:p>
            <a:br/>
            <a:pPr>
              <a:defRPr sz="1200" b="1">
                <a:solidFill>
                  <a:srgbClr val="1E293B"/>
                </a:solidFill>
              </a:defRPr>
            </a:pPr>
            <a:r>
              <a:t>585 KB Single File</a:t>
            </a:r>
          </a:p>
          <a:p>
            <a:br/>
            <a:pPr>
              <a:defRPr sz="1300">
                <a:solidFill>
                  <a:srgbClr val="64748B"/>
                </a:solidFill>
              </a:defRPr>
            </a:pPr>
            <a:r>
              <a:t>Double-click in any browser without internet or server setup required.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 algn="ctr">
              <a:defRPr sz="2200">
                <a:solidFill>
                  <a:srgbClr val="C7D2FE"/>
                </a:solidFill>
              </a:defRPr>
            </a:pPr>
            <a:r>
              <a:t>CampusHub — Master University &amp; Student Operating Ecosystem</a:t>
            </a:r>
            <a:br/>
          </a:p>
          <a:p>
            <a:pPr algn="ctr">
              <a:defRPr sz="1500">
                <a:solidFill>
                  <a:srgbClr val="10B981"/>
                </a:solidFill>
              </a:defRPr>
            </a:pPr>
            <a:r>
              <a:t>150 Features  •  Multi-User RBAC  •  Supabase Cloud + SQLite  •  Zero Downtime Architecture</a:t>
            </a:r>
          </a:p>
          <a:p>
            <a:pPr algn="ctr">
              <a:defRPr sz="1800" b="1">
                <a:solidFill>
                  <a:srgbClr val="FFFFFF"/>
                </a:solidFill>
              </a:defRPr>
            </a:pPr>
            <a:br/>
            <a:r>
              <a:t>Ready for Live Demonstration &amp; 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